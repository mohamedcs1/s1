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uSANRJmHmpTIv6kOUnbE8lusX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7" name="Google Shape;57;p7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7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9" name="Google Shape;59;p7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7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6" name="Google Shape;66;p7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7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9" name="Google Shape;69;p7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2" name="Google Shape;72;p7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4" name="Google Shape;74;p7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7" name="Google Shape;77;p7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7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7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4" name="Google Shape;84;p7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7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7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1" name="Google Shape;91;p7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3" name="Google Shape;93;p7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7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6" name="Google Shape;96;p7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8" name="Google Shape;98;p7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1" name="Google Shape;101;p7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7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7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7" name="Google Shape;107;p7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0" name="Google Shape;110;p7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2" name="Google Shape;112;p7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65747C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7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7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5" name="Google Shape;115;p7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1" name="Google Shape;121;p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8" name="Google Shape;128;p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 type="secHead">
  <p:cSld name="SECTION_HEAD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1" type="body"/>
          </p:nvPr>
        </p:nvSpPr>
        <p:spPr>
          <a:xfrm>
            <a:off x="1141411" y="2249486"/>
            <a:ext cx="487839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40" name="Google Shape;140;p11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1" name="Google Shape;141;p11"/>
          <p:cNvSpPr txBox="1"/>
          <p:nvPr>
            <p:ph idx="3" type="body"/>
          </p:nvPr>
        </p:nvSpPr>
        <p:spPr>
          <a:xfrm>
            <a:off x="6172200" y="2249485"/>
            <a:ext cx="487521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42" name="Google Shape;142;p11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3" name="Google Shape;143;p1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 type="titleOnly">
  <p:cSld name="TITLE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4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8" name="Google Shape;158;p14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9" name="Google Shape;159;p1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5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EBEDEE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5" name="Google Shape;165;p15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6" name="Google Shape;166;p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panoramique avec légende">
  <p:cSld name="Image panoramique avec légend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6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EBEDEE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3" name="Google Shape;173;p1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légende">
  <p:cSld name="Titre et légend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 avec légende">
  <p:cSld name="Citation avec légend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5" name="Google Shape;185;p18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fr-FR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fr-FR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de nom">
  <p:cSld name="Carte de nom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4" name="Google Shape;194;p1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 colonnes">
  <p:cSld name="3 colonne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20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20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2" name="Google Shape;202;p20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3" name="Google Shape;203;p20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4" name="Google Shape;204;p20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5" name="Google Shape;205;p2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 colonnes d’images">
  <p:cSld name="3 colonnes d’images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1" name="Google Shape;211;p21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EBEDEE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2" name="Google Shape;212;p21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3" name="Google Shape;213;p21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4" name="Google Shape;214;p21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EBEDEE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5" name="Google Shape;215;p21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6" name="Google Shape;216;p21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7" name="Google Shape;217;p21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EBEDEE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8" name="Google Shape;218;p21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9" name="Google Shape;219;p2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2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5" name="Google Shape;225;p2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1" name="Google Shape;231;p2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10" name="Google Shape;10;p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6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oogle Shape;12;p6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13" name="Google Shape;13;p6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6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6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6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7" name="Google Shape;17;p6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6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6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" name="Google Shape;20;p6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6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6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6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" name="Google Shape;24;p6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" name="Google Shape;25;p6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6" name="Google Shape;26;p6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6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8" name="Google Shape;28;p6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6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6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6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6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3" name="Google Shape;33;p6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6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6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6" name="Google Shape;36;p6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6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6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9" name="Google Shape;39;p6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" name="Google Shape;40;p6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41" name="Google Shape;41;p6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2" name="Google Shape;42;p6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6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6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6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6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7" name="Google Shape;47;p6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6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9" name="Google Shape;49;p6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6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65747C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" name="Google Shape;51;p6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5.xml"/><Relationship Id="rId5" Type="http://schemas.openxmlformats.org/officeDocument/2006/relationships/slide" Target="/ppt/slides/slide4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slide" Target="/ppt/slides/slide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slide" Target="/ppt/slides/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 txBox="1"/>
          <p:nvPr>
            <p:ph type="ctrTitle"/>
          </p:nvPr>
        </p:nvSpPr>
        <p:spPr>
          <a:xfrm>
            <a:off x="772438" y="2552003"/>
            <a:ext cx="10637806" cy="10179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b="1" lang="fr-FR" sz="6000"/>
              <a:t>LES SERVICES D'INTERNET</a:t>
            </a:r>
            <a:endParaRPr b="1" sz="6000"/>
          </a:p>
        </p:txBody>
      </p:sp>
      <p:sp>
        <p:nvSpPr>
          <p:cNvPr id="240" name="Google Shape;240;p1"/>
          <p:cNvSpPr txBox="1"/>
          <p:nvPr>
            <p:ph idx="1" type="subTitle"/>
          </p:nvPr>
        </p:nvSpPr>
        <p:spPr>
          <a:xfrm>
            <a:off x="4518674" y="4068848"/>
            <a:ext cx="6891570" cy="1229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500"/>
              <a:buNone/>
            </a:pPr>
            <a:r>
              <a:rPr lang="fr-FR" sz="2800">
                <a:solidFill>
                  <a:srgbClr val="F2F2F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CETTE PRÉSENTATION EST ÉLABORÉE PAR :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3500"/>
              <a:buNone/>
            </a:pPr>
            <a:r>
              <a:rPr lang="fr-FR" sz="2800">
                <a:solidFill>
                  <a:srgbClr val="F2F2F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HOUMEL AMAR  07</a:t>
            </a:r>
            <a:endParaRPr sz="2800">
              <a:solidFill>
                <a:srgbClr val="F2F2F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8663895" y="5898103"/>
            <a:ext cx="1414601" cy="461665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sng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action="ppaction://hlinkshowjump?jump=nextslide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Clique ici</a:t>
            </a:r>
            <a:endParaRPr b="0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"/>
          <p:cNvSpPr txBox="1"/>
          <p:nvPr>
            <p:ph type="title"/>
          </p:nvPr>
        </p:nvSpPr>
        <p:spPr>
          <a:xfrm>
            <a:off x="955110" y="863537"/>
            <a:ext cx="11112960" cy="168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b="1" lang="fr-FR" sz="5400"/>
              <a:t>PRINCIPAUX SERVICES OU FONCTIONS D'INTERNET</a:t>
            </a:r>
            <a:endParaRPr/>
          </a:p>
        </p:txBody>
      </p:sp>
      <p:sp>
        <p:nvSpPr>
          <p:cNvPr id="248" name="Google Shape;248;p2"/>
          <p:cNvSpPr txBox="1"/>
          <p:nvPr>
            <p:ph idx="1" type="body"/>
          </p:nvPr>
        </p:nvSpPr>
        <p:spPr>
          <a:xfrm>
            <a:off x="955110" y="2849622"/>
            <a:ext cx="10270572" cy="2982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500"/>
              <a:buFont typeface="Twentieth Century"/>
              <a:buAutoNum type="arabicPeriod"/>
            </a:pPr>
            <a:r>
              <a:rPr lang="fr-FR" sz="3600">
                <a:solidFill>
                  <a:srgbClr val="F2F2F2"/>
                </a:solidFill>
              </a:rPr>
              <a:t>Accès à des sites d'information en mode (WWW).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4500"/>
              <a:buFont typeface="Twentieth Century"/>
              <a:buAutoNum type="arabicPeriod"/>
            </a:pPr>
            <a:r>
              <a:rPr lang="fr-FR" sz="3600">
                <a:solidFill>
                  <a:srgbClr val="F2F2F2"/>
                </a:solidFill>
              </a:rPr>
              <a:t>Courrier électronique (Email).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4500"/>
              <a:buFont typeface="Twentieth Century"/>
              <a:buAutoNum type="arabicPeriod"/>
            </a:pPr>
            <a:r>
              <a:rPr lang="fr-FR" sz="3600">
                <a:solidFill>
                  <a:srgbClr val="F2F2F2"/>
                </a:solidFill>
              </a:rPr>
              <a:t>Transfert de fichiers (fonction FTP).</a:t>
            </a:r>
            <a:endParaRPr sz="3600">
              <a:solidFill>
                <a:srgbClr val="F2F2F2"/>
              </a:solidFill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8303492" y="5958108"/>
            <a:ext cx="564838" cy="461665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sng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b="0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0" name="Google Shape;250;p2"/>
          <p:cNvSpPr/>
          <p:nvPr/>
        </p:nvSpPr>
        <p:spPr>
          <a:xfrm>
            <a:off x="2349726" y="5958109"/>
            <a:ext cx="1056665" cy="461665"/>
          </a:xfrm>
          <a:prstGeom prst="roundRect">
            <a:avLst>
              <a:gd fmla="val 16667" name="adj"/>
            </a:avLst>
          </a:prstGeom>
          <a:solidFill>
            <a:srgbClr val="FF7C8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sng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action="ppaction://hlinkshowjump?jump=previousslide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Retour</a:t>
            </a:r>
            <a:endParaRPr b="0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1" name="Google Shape;251;p2"/>
          <p:cNvSpPr/>
          <p:nvPr/>
        </p:nvSpPr>
        <p:spPr>
          <a:xfrm>
            <a:off x="9809019" y="5958108"/>
            <a:ext cx="564838" cy="461665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sng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</a:t>
            </a:r>
            <a:endParaRPr b="0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9056255" y="5958108"/>
            <a:ext cx="564838" cy="461665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sng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endParaRPr b="0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"/>
          <p:cNvSpPr txBox="1"/>
          <p:nvPr>
            <p:ph type="title"/>
          </p:nvPr>
        </p:nvSpPr>
        <p:spPr>
          <a:xfrm>
            <a:off x="1000736" y="883415"/>
            <a:ext cx="10655352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b="1" lang="fr-FR" sz="5400"/>
              <a:t>1-ACCÈS À DES SITES D'INFORMATION EN MODE (WWW)</a:t>
            </a:r>
            <a:endParaRPr b="1" sz="5400"/>
          </a:p>
        </p:txBody>
      </p:sp>
      <p:sp>
        <p:nvSpPr>
          <p:cNvPr id="259" name="Google Shape;259;p3"/>
          <p:cNvSpPr txBox="1"/>
          <p:nvPr>
            <p:ph idx="1" type="body"/>
          </p:nvPr>
        </p:nvSpPr>
        <p:spPr>
          <a:xfrm>
            <a:off x="1141413" y="2972967"/>
            <a:ext cx="7369541" cy="252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500"/>
              <a:buNone/>
            </a:pPr>
            <a:r>
              <a:rPr lang="fr-FR" sz="3600">
                <a:solidFill>
                  <a:srgbClr val="F2F2F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(Word Wide Web) est un système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4500"/>
              <a:buNone/>
            </a:pPr>
            <a:r>
              <a:rPr lang="fr-FR" sz="3600">
                <a:solidFill>
                  <a:srgbClr val="F2F2F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d'information réparti, basé sur des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4500"/>
              <a:buNone/>
            </a:pPr>
            <a:r>
              <a:rPr lang="fr-FR" sz="3600">
                <a:solidFill>
                  <a:srgbClr val="F2F2F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documents en hypertexte.</a:t>
            </a:r>
            <a:endParaRPr sz="3600">
              <a:solidFill>
                <a:srgbClr val="F2F2F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60" name="Google Shape;2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0097" y="2750230"/>
            <a:ext cx="3765991" cy="313446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"/>
          <p:cNvSpPr/>
          <p:nvPr/>
        </p:nvSpPr>
        <p:spPr>
          <a:xfrm>
            <a:off x="5891308" y="6070877"/>
            <a:ext cx="1155561" cy="461665"/>
          </a:xfrm>
          <a:prstGeom prst="roundRect">
            <a:avLst>
              <a:gd fmla="val 16667" name="adj"/>
            </a:avLst>
          </a:prstGeom>
          <a:solidFill>
            <a:srgbClr val="FF7C8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sng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Retour </a:t>
            </a:r>
            <a:endParaRPr b="0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"/>
          <p:cNvSpPr txBox="1"/>
          <p:nvPr>
            <p:ph type="title"/>
          </p:nvPr>
        </p:nvSpPr>
        <p:spPr>
          <a:xfrm>
            <a:off x="1049050" y="7473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wentieth Century"/>
              <a:buNone/>
            </a:pPr>
            <a:r>
              <a:rPr b="1" lang="fr-FR" sz="5400"/>
              <a:t>2- COURRIER ÉLECTRONIQUE (EMAIL)</a:t>
            </a:r>
            <a:endParaRPr b="1" sz="5400"/>
          </a:p>
        </p:txBody>
      </p:sp>
      <p:sp>
        <p:nvSpPr>
          <p:cNvPr id="268" name="Google Shape;268;p4"/>
          <p:cNvSpPr txBox="1"/>
          <p:nvPr>
            <p:ph idx="1" type="body"/>
          </p:nvPr>
        </p:nvSpPr>
        <p:spPr>
          <a:xfrm>
            <a:off x="809778" y="2578442"/>
            <a:ext cx="6726447" cy="3457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500"/>
              <a:buNone/>
            </a:pPr>
            <a:r>
              <a:rPr lang="fr-FR" sz="3600">
                <a:solidFill>
                  <a:srgbClr val="F2F2F2"/>
                </a:solidFill>
              </a:rPr>
              <a:t>Service permettant l'échange de messages ou de documents informatisés entre utilisateurs de réseaux locaux et grandes distances (notamment Internet).</a:t>
            </a:r>
            <a:endParaRPr sz="3600">
              <a:solidFill>
                <a:srgbClr val="F2F2F2"/>
              </a:solidFill>
            </a:endParaRPr>
          </a:p>
        </p:txBody>
      </p:sp>
      <p:pic>
        <p:nvPicPr>
          <p:cNvPr id="269" name="Google Shape;2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5345" y="2308103"/>
            <a:ext cx="4155326" cy="321849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sq" cmpd="sng" w="76200">
            <a:solidFill>
              <a:srgbClr val="292929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00" endA="0" endPos="28000" kx="0" rotWithShape="0" algn="bl" stA="28000" stPos="0" sy="-100000" ky="0"/>
          </a:effectLst>
        </p:spPr>
      </p:pic>
      <p:sp>
        <p:nvSpPr>
          <p:cNvPr id="270" name="Google Shape;270;p4"/>
          <p:cNvSpPr/>
          <p:nvPr/>
        </p:nvSpPr>
        <p:spPr>
          <a:xfrm>
            <a:off x="5516631" y="6118634"/>
            <a:ext cx="1155561" cy="461665"/>
          </a:xfrm>
          <a:prstGeom prst="roundRect">
            <a:avLst>
              <a:gd fmla="val 16667" name="adj"/>
            </a:avLst>
          </a:prstGeom>
          <a:solidFill>
            <a:srgbClr val="FF7C8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sng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Retour</a:t>
            </a:r>
            <a:endParaRPr b="0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"/>
          <p:cNvSpPr txBox="1"/>
          <p:nvPr>
            <p:ph type="title"/>
          </p:nvPr>
        </p:nvSpPr>
        <p:spPr>
          <a:xfrm>
            <a:off x="1141410" y="919970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wentieth Century"/>
              <a:buNone/>
            </a:pPr>
            <a:r>
              <a:rPr b="1" lang="fr-FR" sz="5400"/>
              <a:t>3- TRANSFERT DE FICHIERS (FONCTION FTP)</a:t>
            </a:r>
            <a:endParaRPr/>
          </a:p>
        </p:txBody>
      </p:sp>
      <p:sp>
        <p:nvSpPr>
          <p:cNvPr id="277" name="Google Shape;277;p5"/>
          <p:cNvSpPr txBox="1"/>
          <p:nvPr>
            <p:ph idx="1" type="body"/>
          </p:nvPr>
        </p:nvSpPr>
        <p:spPr>
          <a:xfrm>
            <a:off x="214169" y="2741856"/>
            <a:ext cx="6696304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25000"/>
              <a:buNone/>
            </a:pPr>
            <a:r>
              <a:rPr lang="fr-FR" sz="3600">
                <a:solidFill>
                  <a:srgbClr val="F2F2F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(File Transfer Protocol). Protocole en vigueur sur Internet qui permet la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2F2F2"/>
              </a:buClr>
              <a:buSzPct val="125000"/>
              <a:buNone/>
            </a:pPr>
            <a:r>
              <a:rPr lang="fr-FR" sz="3600">
                <a:solidFill>
                  <a:srgbClr val="F2F2F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transmission de n'importe quel fichier d'un ordinateur à un autre.</a:t>
            </a:r>
            <a:endParaRPr/>
          </a:p>
        </p:txBody>
      </p:sp>
      <p:pic>
        <p:nvPicPr>
          <p:cNvPr id="278" name="Google Shape;2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0473" y="2270927"/>
            <a:ext cx="4966679" cy="3181709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sq" cmpd="sng" w="7620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00" endA="0" endPos="28000" kx="0" rotWithShape="0" algn="bl" stA="33000" stPos="0" sy="-100000" ky="0"/>
          </a:effectLst>
        </p:spPr>
      </p:pic>
      <p:sp>
        <p:nvSpPr>
          <p:cNvPr id="279" name="Google Shape;279;p5"/>
          <p:cNvSpPr/>
          <p:nvPr/>
        </p:nvSpPr>
        <p:spPr>
          <a:xfrm>
            <a:off x="5516628" y="6052737"/>
            <a:ext cx="1155561" cy="461665"/>
          </a:xfrm>
          <a:prstGeom prst="roundRect">
            <a:avLst>
              <a:gd fmla="val 16667" name="adj"/>
            </a:avLst>
          </a:prstGeom>
          <a:solidFill>
            <a:srgbClr val="FF7C8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sng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Retour</a:t>
            </a:r>
            <a:endParaRPr b="0" i="0" sz="24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ircuit">
  <a:themeElements>
    <a:clrScheme name="Personnalisé 3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FFFFF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2024-01-19T15:39:31Z</dcterms:created>
</cp:coreProperties>
</file>